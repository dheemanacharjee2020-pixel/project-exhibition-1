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52B7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2E86DE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LEARNING-DRIVEN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Irrigation &amp; Plant Health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Simulation Edition</a:t>
            </a:r>
            <a:endParaRPr lang="en-US" sz="1700" dirty="0"/>
          </a:p>
        </p:txBody>
      </p:sp>
      <p:pic>
        <p:nvPicPr>
          <p:cNvPr id="7" name="Image 0" descr="icons/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77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395020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Bhopal   |   Supervisor: Dr. Pradeep Kumar Mishra   |   Group 49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87552" y="467258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Dheeman Acharjee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87552" y="491032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25BAI11381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9120" y="4617720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53712" y="467258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Prakash Singh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53712" y="491032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25BAI11396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0" y="4617720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119872" y="467258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Abhijeet Wandere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119872" y="4910328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25BAI11429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22960" y="5276088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87552" y="533095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 Manchanda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987552" y="556869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25BAI10139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89120" y="5276088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553712" y="533095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Raj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4553712" y="556869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25BAI11407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55280" y="5276088"/>
            <a:ext cx="342900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119872" y="533095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Suryansh Pratap Singh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119872" y="556869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25BAI10845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static, threshold-based irrigation falls short — and what we built instead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4709160"/>
          </a:xfrm>
          <a:prstGeom prst="roundRect">
            <a:avLst>
              <a:gd name="adj" fmla="val 2400"/>
            </a:avLst>
          </a:prstGeom>
          <a:solidFill>
            <a:srgbClr val="F4F7F1"/>
          </a:solidFill>
          <a:ln/>
          <a:effectLst>
            <a:outerShdw sx="100000" sy="100000" kx="0" ky="0" algn="bl" rotWithShape="0" blurRad="101600" dist="38100" dir="5400000">
              <a:srgbClr val="1F2A2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1760220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icons/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9399" y="1935099"/>
            <a:ext cx="427482" cy="4274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154680"/>
            <a:ext cx="28437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automated irrigation relies on rigid, static thresholds — pumps switch on only when soil moisture drops below a fixed percentage.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wastes water and cannot adapt to dynamic factors like temperature and humidity.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70248" y="1554480"/>
            <a:ext cx="3429000" cy="4709160"/>
          </a:xfrm>
          <a:prstGeom prst="roundRect">
            <a:avLst>
              <a:gd name="adj" fmla="val 2400"/>
            </a:avLst>
          </a:prstGeom>
          <a:solidFill>
            <a:srgbClr val="F4F7F1"/>
          </a:solidFill>
          <a:ln/>
          <a:effectLst>
            <a:outerShdw sx="100000" sy="100000" kx="0" ky="0" algn="bl" rotWithShape="0" blurRad="101600" dist="38100" dir="5400000">
              <a:srgbClr val="1F2A2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96128" y="1760220"/>
            <a:ext cx="777240" cy="7772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1" name="Image 1" descr="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007" y="193509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98848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62856" y="3154680"/>
            <a:ext cx="28437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an intelligent, predictive agricultural system that replaces hardcoded rules with a Supervised Machine Learning engine.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accurately predicts irrigation state triggers and the exact water volume required.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91856" y="1554480"/>
            <a:ext cx="3429000" cy="4709160"/>
          </a:xfrm>
          <a:prstGeom prst="roundRect">
            <a:avLst>
              <a:gd name="adj" fmla="val 2400"/>
            </a:avLst>
          </a:prstGeom>
          <a:solidFill>
            <a:srgbClr val="F4F7F1"/>
          </a:solidFill>
          <a:ln/>
          <a:effectLst>
            <a:outerShdw sx="100000" sy="100000" kx="0" ky="0" algn="bl" rotWithShape="0" blurRad="101600" dist="38100" dir="5400000">
              <a:srgbClr val="1F2A2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17736" y="1760220"/>
            <a:ext cx="777240" cy="77724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16" name="Image 2" descr="icons/exp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2615" y="193509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0456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84464" y="3154680"/>
            <a:ext cx="284378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software simulation using synthetic time-series telemetry, processed through a local Python API and visualized on a real-time web dashboard.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hardware bottleneck — pure software validation.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Objective &amp; Scope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36599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Stack &amp; Simulation Platform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runs in the cloud — zero physical hardware required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749040" cy="4754880"/>
          </a:xfrm>
          <a:prstGeom prst="roundRect">
            <a:avLst>
              <a:gd name="adj" fmla="val 2195"/>
            </a:avLst>
          </a:prstGeom>
          <a:solidFill>
            <a:srgbClr val="0B3D2E"/>
          </a:solidFill>
          <a:ln/>
        </p:spPr>
      </p:sp>
      <p:sp>
        <p:nvSpPr>
          <p:cNvPr id="5" name="Shape 3"/>
          <p:cNvSpPr/>
          <p:nvPr/>
        </p:nvSpPr>
        <p:spPr>
          <a:xfrm>
            <a:off x="1988820" y="1714500"/>
            <a:ext cx="868680" cy="86868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6" name="Image 0" descr="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273" y="1909953"/>
            <a:ext cx="477774" cy="4777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Cloud IDE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5204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Python backend, executes Scikit-Learn model training/inference, and serves the HTML front-end — simultaneously, without local port-forwarding issues.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17720" y="1508760"/>
            <a:ext cx="7040880" cy="1490472"/>
          </a:xfrm>
          <a:prstGeom prst="roundRect">
            <a:avLst>
              <a:gd name="adj" fmla="val 4908"/>
            </a:avLst>
          </a:prstGeom>
          <a:solidFill>
            <a:srgbClr val="F4F7F1"/>
          </a:solidFill>
          <a:ln/>
        </p:spPr>
      </p:sp>
      <p:sp>
        <p:nvSpPr>
          <p:cNvPr id="11" name="Shape 8"/>
          <p:cNvSpPr/>
          <p:nvPr/>
        </p:nvSpPr>
        <p:spPr>
          <a:xfrm>
            <a:off x="4974336" y="1924812"/>
            <a:ext cx="658368" cy="658368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2" name="Image 1" descr="icons/pyth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469" y="2072945"/>
            <a:ext cx="362102" cy="3621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52160" y="1691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Engine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21031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Flask, Flask-CORS, Scikit-Learn, NumPy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17720" y="3136392"/>
            <a:ext cx="7040880" cy="1490472"/>
          </a:xfrm>
          <a:prstGeom prst="roundRect">
            <a:avLst>
              <a:gd name="adj" fmla="val 4908"/>
            </a:avLst>
          </a:prstGeom>
          <a:solidFill>
            <a:srgbClr val="F4F7F1"/>
          </a:solidFill>
          <a:ln/>
        </p:spPr>
      </p:sp>
      <p:sp>
        <p:nvSpPr>
          <p:cNvPr id="16" name="Shape 12"/>
          <p:cNvSpPr/>
          <p:nvPr/>
        </p:nvSpPr>
        <p:spPr>
          <a:xfrm>
            <a:off x="4974336" y="3552444"/>
            <a:ext cx="658368" cy="658368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17" name="Image 2" descr="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469" y="3700577"/>
            <a:ext cx="362102" cy="3621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52160" y="331927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Interface</a:t>
            </a:r>
            <a:endParaRPr lang="en-US" sz="1650" dirty="0"/>
          </a:p>
        </p:txBody>
      </p:sp>
      <p:sp>
        <p:nvSpPr>
          <p:cNvPr id="19" name="Text 14"/>
          <p:cNvSpPr txBox="1"/>
          <p:nvPr/>
        </p:nvSpPr>
        <p:spPr>
          <a:xfrm>
            <a:off x="5852160" y="373075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 (Vanilla), Chart.js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617720" y="4764024"/>
            <a:ext cx="7040880" cy="1490472"/>
          </a:xfrm>
          <a:prstGeom prst="roundRect">
            <a:avLst>
              <a:gd name="adj" fmla="val 4908"/>
            </a:avLst>
          </a:prstGeom>
          <a:solidFill>
            <a:srgbClr val="F4F7F1"/>
          </a:solidFill>
          <a:ln/>
        </p:spPr>
      </p:sp>
      <p:sp>
        <p:nvSpPr>
          <p:cNvPr id="21" name="Shape 16"/>
          <p:cNvSpPr/>
          <p:nvPr/>
        </p:nvSpPr>
        <p:spPr>
          <a:xfrm>
            <a:off x="4974336" y="5180076"/>
            <a:ext cx="658368" cy="658368"/>
          </a:xfrm>
          <a:prstGeom prst="ellipse">
            <a:avLst/>
          </a:prstGeom>
          <a:solidFill>
            <a:srgbClr val="D68910"/>
          </a:solidFill>
          <a:ln/>
        </p:spPr>
      </p:sp>
      <p:pic>
        <p:nvPicPr>
          <p:cNvPr id="22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469" y="5328209"/>
            <a:ext cx="362102" cy="3621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852160" y="49469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</a:t>
            </a:r>
            <a:endParaRPr lang="en-US" sz="1650" dirty="0"/>
          </a:p>
        </p:txBody>
      </p:sp>
      <p:sp>
        <p:nvSpPr>
          <p:cNvPr id="24" name="Text 18"/>
          <p:cNvSpPr txBox="1"/>
          <p:nvPr/>
        </p:nvSpPr>
        <p:spPr>
          <a:xfrm>
            <a:off x="5852160" y="5358384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Mockaroo for synthetic CSV datasets · Postman for simulating asynchronous HTTP telemetry payloads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&amp; Simulation Platform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136599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Process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telemetry to an actionable irrigation decision — five automated stages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48256" cy="4160520"/>
          </a:xfrm>
          <a:prstGeom prst="roundRect">
            <a:avLst>
              <a:gd name="adj" fmla="val 4018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53312" y="1380744"/>
            <a:ext cx="438912" cy="438912"/>
          </a:xfrm>
          <a:prstGeom prst="ellipse">
            <a:avLst/>
          </a:prstGeom>
          <a:solidFill>
            <a:srgbClr val="2E86DE"/>
          </a:solidFill>
          <a:ln w="38100">
            <a:solidFill>
              <a:srgbClr val="0B3D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53312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75588" y="2016252"/>
            <a:ext cx="594360" cy="59436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8" name="Image 0" descr="icons/broad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319" y="2149983"/>
            <a:ext cx="326898" cy="32689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74320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/ Postman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388620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simulated ambient temperature, humidity &amp; soil moisture metrics.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596896" y="3406140"/>
            <a:ext cx="173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770632" y="1600200"/>
            <a:ext cx="2048256" cy="4160520"/>
          </a:xfrm>
          <a:prstGeom prst="roundRect">
            <a:avLst>
              <a:gd name="adj" fmla="val 4018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575304" y="1380744"/>
            <a:ext cx="438912" cy="438912"/>
          </a:xfrm>
          <a:prstGeom prst="ellipse">
            <a:avLst/>
          </a:prstGeom>
          <a:solidFill>
            <a:srgbClr val="2E86DE"/>
          </a:solidFill>
          <a:ln w="38100">
            <a:solidFill>
              <a:srgbClr val="0B3D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75304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497580" y="2016252"/>
            <a:ext cx="594360" cy="59436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17" name="Image 1" descr="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311" y="2149983"/>
            <a:ext cx="326898" cy="32689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862072" y="274320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288036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2916936" y="388620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JSON payloads via HTTP GET/POST; handles CORS routing.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4818888" y="3406140"/>
            <a:ext cx="173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4992624" y="1600200"/>
            <a:ext cx="2048256" cy="4160520"/>
          </a:xfrm>
          <a:prstGeom prst="roundRect">
            <a:avLst>
              <a:gd name="adj" fmla="val 4018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5797296" y="1380744"/>
            <a:ext cx="438912" cy="438912"/>
          </a:xfrm>
          <a:prstGeom prst="ellipse">
            <a:avLst/>
          </a:prstGeom>
          <a:solidFill>
            <a:srgbClr val="2E86DE"/>
          </a:solidFill>
          <a:ln w="38100">
            <a:solidFill>
              <a:srgbClr val="0B3D2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797296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719572" y="2016252"/>
            <a:ext cx="594360" cy="59436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26" name="Image 2" descr="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303" y="2149983"/>
            <a:ext cx="326898" cy="32689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084064" y="274320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Triggering</a:t>
            </a:r>
            <a:endParaRPr lang="en-US" sz="1350" dirty="0"/>
          </a:p>
        </p:txBody>
      </p:sp>
      <p:sp>
        <p:nvSpPr>
          <p:cNvPr id="28" name="Text 23"/>
          <p:cNvSpPr txBox="1"/>
          <p:nvPr/>
        </p:nvSpPr>
        <p:spPr>
          <a:xfrm>
            <a:off x="5102352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5138928" y="388620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soil state (Dry / Optimal / Wet) via multi-dimensional Euclidean distance.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040880" y="3406140"/>
            <a:ext cx="173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Shape 26"/>
          <p:cNvSpPr/>
          <p:nvPr/>
        </p:nvSpPr>
        <p:spPr>
          <a:xfrm>
            <a:off x="7214616" y="1600200"/>
            <a:ext cx="2048256" cy="4160520"/>
          </a:xfrm>
          <a:prstGeom prst="roundRect">
            <a:avLst>
              <a:gd name="adj" fmla="val 4018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8019288" y="1380744"/>
            <a:ext cx="438912" cy="438912"/>
          </a:xfrm>
          <a:prstGeom prst="ellipse">
            <a:avLst/>
          </a:prstGeom>
          <a:solidFill>
            <a:srgbClr val="2E86DE"/>
          </a:solidFill>
          <a:ln w="38100">
            <a:solidFill>
              <a:srgbClr val="0B3D2E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019288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7941564" y="2016252"/>
            <a:ext cx="594360" cy="59436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35" name="Image 3" descr="icons/calcula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295" y="2149983"/>
            <a:ext cx="326898" cy="326898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306056" y="274320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37" name="Text 31"/>
          <p:cNvSpPr txBox="1"/>
          <p:nvPr/>
        </p:nvSpPr>
        <p:spPr>
          <a:xfrm>
            <a:off x="7324344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7360920" y="388620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"Dry" is triggered, outputs precise water volume (ml) using decision-tree ensembles.</a:t>
            </a:r>
            <a:endParaRPr lang="en-US" sz="1050" dirty="0"/>
          </a:p>
        </p:txBody>
      </p:sp>
      <p:sp>
        <p:nvSpPr>
          <p:cNvPr id="39" name="Text 33"/>
          <p:cNvSpPr txBox="1"/>
          <p:nvPr/>
        </p:nvSpPr>
        <p:spPr>
          <a:xfrm>
            <a:off x="9262872" y="3406140"/>
            <a:ext cx="173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0" name="Shape 34"/>
          <p:cNvSpPr/>
          <p:nvPr/>
        </p:nvSpPr>
        <p:spPr>
          <a:xfrm>
            <a:off x="9436608" y="1600200"/>
            <a:ext cx="2048256" cy="4160520"/>
          </a:xfrm>
          <a:prstGeom prst="roundRect">
            <a:avLst>
              <a:gd name="adj" fmla="val 4018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41" name="Shape 35"/>
          <p:cNvSpPr/>
          <p:nvPr/>
        </p:nvSpPr>
        <p:spPr>
          <a:xfrm>
            <a:off x="10241280" y="1380744"/>
            <a:ext cx="438912" cy="438912"/>
          </a:xfrm>
          <a:prstGeom prst="ellipse">
            <a:avLst/>
          </a:prstGeom>
          <a:solidFill>
            <a:srgbClr val="2E86DE"/>
          </a:solidFill>
          <a:ln w="38100">
            <a:solidFill>
              <a:srgbClr val="0B3D2E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1024128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Shape 37"/>
          <p:cNvSpPr/>
          <p:nvPr/>
        </p:nvSpPr>
        <p:spPr>
          <a:xfrm>
            <a:off x="10163556" y="2016252"/>
            <a:ext cx="594360" cy="59436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44" name="Image 4" descr="icons/chartl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7287" y="2149983"/>
            <a:ext cx="326898" cy="326898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528048" y="274320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46" name="Text 39"/>
          <p:cNvSpPr txBox="1"/>
          <p:nvPr/>
        </p:nvSpPr>
        <p:spPr>
          <a:xfrm>
            <a:off x="9546336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&amp; AJAX</a:t>
            </a:r>
            <a:endParaRPr lang="en-US" sz="1050" dirty="0"/>
          </a:p>
        </p:txBody>
      </p:sp>
      <p:sp>
        <p:nvSpPr>
          <p:cNvPr id="47" name="Text 40"/>
          <p:cNvSpPr txBox="1"/>
          <p:nvPr/>
        </p:nvSpPr>
        <p:spPr>
          <a:xfrm>
            <a:off x="9582912" y="388620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asynchronously fetches predictions and updates live charts.</a:t>
            </a:r>
            <a:endParaRPr lang="en-US" sz="1050" dirty="0"/>
          </a:p>
        </p:txBody>
      </p:sp>
      <p:sp>
        <p:nvSpPr>
          <p:cNvPr id="48" name="Text 4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&amp; Process Flow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1136599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&amp; real-world application of the system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29000" cy="4206240"/>
          </a:xfrm>
          <a:prstGeom prst="roundRect">
            <a:avLst>
              <a:gd name="adj" fmla="val 2400"/>
            </a:avLst>
          </a:prstGeom>
          <a:solidFill>
            <a:srgbClr val="F4F7F1"/>
          </a:solidFill>
          <a:ln/>
          <a:effectLst>
            <a:outerShdw sx="100000" sy="100000" kx="0" ky="0" algn="bl" rotWithShape="0" blurRad="101600" dist="38100" dir="5400000">
              <a:srgbClr val="1F2A2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2980" y="1988820"/>
            <a:ext cx="868680" cy="86868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6" name="Image 0" descr="icons/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433" y="2184273"/>
            <a:ext cx="477774" cy="4777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632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Agriculture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0332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receive exact hydration based on compound environmental factors — temperature and humidity together — rather than a single moisture reading.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70248" y="1645920"/>
            <a:ext cx="3429000" cy="4206240"/>
          </a:xfrm>
          <a:prstGeom prst="roundRect">
            <a:avLst>
              <a:gd name="adj" fmla="val 2400"/>
            </a:avLst>
          </a:prstGeom>
          <a:solidFill>
            <a:srgbClr val="F4F7F1"/>
          </a:solidFill>
          <a:ln/>
          <a:effectLst>
            <a:outerShdw sx="100000" sy="100000" kx="0" ky="0" algn="bl" rotWithShape="0" blurRad="101600" dist="38100" dir="5400000">
              <a:srgbClr val="1F2A2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4588" y="1988820"/>
            <a:ext cx="868680" cy="86868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1" name="Image 1" descr="icons/t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041" y="2184273"/>
            <a:ext cx="477774" cy="4777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44568" y="30632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Conservation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44568" y="370332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forecasting volume requirements prevents severe over-watering and reduces pump fatigue, saving water and energy.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91856" y="1645920"/>
            <a:ext cx="3429000" cy="4206240"/>
          </a:xfrm>
          <a:prstGeom prst="roundRect">
            <a:avLst>
              <a:gd name="adj" fmla="val 2400"/>
            </a:avLst>
          </a:prstGeom>
          <a:solidFill>
            <a:srgbClr val="F4F7F1"/>
          </a:solidFill>
          <a:ln/>
          <a:effectLst>
            <a:outerShdw sx="100000" sy="100000" kx="0" ky="0" algn="bl" rotWithShape="0" blurRad="101600" dist="38100" dir="5400000">
              <a:srgbClr val="1F2A2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6196" y="1988820"/>
            <a:ext cx="868680" cy="868680"/>
          </a:xfrm>
          <a:prstGeom prst="ellipse">
            <a:avLst/>
          </a:prstGeom>
          <a:solidFill>
            <a:srgbClr val="D68910"/>
          </a:solidFill>
          <a:ln/>
        </p:spPr>
      </p:sp>
      <p:pic>
        <p:nvPicPr>
          <p:cNvPr id="16" name="Image 2" descr="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649" y="2184273"/>
            <a:ext cx="477774" cy="4777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66176" y="30632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Monitoring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66176" y="370332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telemetry is transformed into accessible, actionable insight through an interactive graphical dashboard — viewable from anywhere.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&amp; Real-World Application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36599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focused work-streams, one integrated system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4F7F1"/>
          </a:solidFill>
          <a:ln/>
          <a:effectLst>
            <a:outerShdw sx="100000" sy="100000" kx="0" ky="0" algn="bl" rotWithShape="0" blurRad="101600" dist="38100" dir="5400000">
              <a:srgbClr val="1F2A2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28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737360"/>
            <a:ext cx="548640" cy="548640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8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8124" y="1860804"/>
            <a:ext cx="301752" cy="3017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237744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Intelligence &amp; Interface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081528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Dheeman Acharjee  ·  Om Prakash Singh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657600"/>
            <a:ext cx="29169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Flask API, trained the Scikit-Learn KNN and Random Forest models, configured CORS, and built the Chart.js web dashboard.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70248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4F7F1"/>
          </a:solidFill>
          <a:ln/>
          <a:effectLst>
            <a:outerShdw sx="100000" sy="100000" kx="0" ky="0" algn="bl" rotWithShape="0" blurRad="101600" dist="38100" dir="5400000">
              <a:srgbClr val="1F2A24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18288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26280" y="1828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76288" y="1737360"/>
            <a:ext cx="548640" cy="54864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16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732" y="1860804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26280" y="237744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Systems &amp; Network Simulation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526280" y="3081528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Abhijeet Wandere  ·  Aarya Manchanda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4526280" y="3657600"/>
            <a:ext cx="29169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asynchronous JSON telemetry transmission logic and configured the Postman testing environment to mimic ESP32 network loops.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991856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4F7F1"/>
          </a:solidFill>
          <a:ln/>
          <a:effectLst>
            <a:outerShdw sx="100000" sy="100000" kx="0" ky="0" algn="bl" rotWithShape="0" blurRad="101600" dist="38100" dir="5400000">
              <a:srgbClr val="1F2A24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47888" y="18288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D68910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247888" y="1828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10597896" y="1737360"/>
            <a:ext cx="548640" cy="548640"/>
          </a:xfrm>
          <a:prstGeom prst="ellipse">
            <a:avLst/>
          </a:prstGeom>
          <a:solidFill>
            <a:srgbClr val="D68910"/>
          </a:solidFill>
          <a:ln/>
        </p:spPr>
      </p:sp>
      <p:pic>
        <p:nvPicPr>
          <p:cNvPr id="24" name="Image 2" descr="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1340" y="1860804"/>
            <a:ext cx="301752" cy="30175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247888" y="237744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 &amp; Calibration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247888" y="3081528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Raj  ·  Suryansh Pratap Singh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8247888" y="3657600"/>
            <a:ext cx="29169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Mockaroo to curate synthetic datasets, linearized simulated ADC logic, and validated model accuracy via Confusion Matrices and MAE.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of Each Member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1136599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1"/>
          </a:solidFill>
          <a:ln/>
        </p:spPr>
      </p:sp>
      <p:sp>
        <p:nvSpPr>
          <p:cNvPr id="4" name="Shape 2"/>
          <p:cNvSpPr/>
          <p:nvPr/>
        </p:nvSpPr>
        <p:spPr>
          <a:xfrm>
            <a:off x="982980" y="169164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5" name="Image 0" descr="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137" y="1804797"/>
            <a:ext cx="276606" cy="2766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508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system based on IoT and machine learning — Elsevier, Energy Reports.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1"/>
          </a:solidFill>
          <a:ln/>
        </p:spPr>
      </p:sp>
      <p:sp>
        <p:nvSpPr>
          <p:cNvPr id="8" name="Shape 5"/>
          <p:cNvSpPr/>
          <p:nvPr/>
        </p:nvSpPr>
        <p:spPr>
          <a:xfrm>
            <a:off x="982980" y="27432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9" name="Image 1" descr="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137" y="2856357"/>
            <a:ext cx="276606" cy="2766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2560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Irrigation System Using the IoT and Advanced Machine Learning Model — ResearchGate.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6118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1"/>
          </a:solidFill>
          <a:ln/>
        </p:spPr>
      </p:sp>
      <p:sp>
        <p:nvSpPr>
          <p:cNvPr id="12" name="Shape 8"/>
          <p:cNvSpPr/>
          <p:nvPr/>
        </p:nvSpPr>
        <p:spPr>
          <a:xfrm>
            <a:off x="982980" y="379476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3" name="Image 2" descr="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37" y="3907917"/>
            <a:ext cx="276606" cy="27660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36118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Agricultural Datasets — Kaggle.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8640" y="4663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1"/>
          </a:solidFill>
          <a:ln/>
        </p:spPr>
      </p:sp>
      <p:sp>
        <p:nvSpPr>
          <p:cNvPr id="16" name="Shape 11"/>
          <p:cNvSpPr/>
          <p:nvPr/>
        </p:nvSpPr>
        <p:spPr>
          <a:xfrm>
            <a:off x="982980" y="484632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7" name="Image 3" descr="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137" y="4959477"/>
            <a:ext cx="276606" cy="27660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1640" y="46634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Official Documentation for Ensemble Regression and Neighbor Classification.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136599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52B7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2E86D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00116" y="1691640"/>
            <a:ext cx="1188720" cy="118872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5" name="Image 0" descr="icons/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296" y="19888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9260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49  ·  VIT Bhopal  ·  Supervisor: Dr. Pradeep Kumar Mishra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2026-09-08T03:19:29Z</dcterms:created>
  <dcterms:modified xsi:type="dcterms:W3CDTF">2026-09-08T03:19:29Z</dcterms:modified>
</cp:coreProperties>
</file>